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(msg/sec)</c:v>
                </c:pt>
              </c:strCache>
            </c:strRef>
          </c:tx>
          <c:spPr>
            <a:solidFill>
              <a:srgbClr val="8888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C77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C00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REST (Baseline)</c:v>
                  </c:pt>
                  <c:pt idx="1">
                    <c:v>RabbitMQ</c:v>
                  </c:pt>
                  <c:pt idx="2">
                    <c:v>Apache Kafka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4500</c:v>
                </c:pt>
                <c:pt idx="1">
                  <c:v>50000</c:v>
                </c:pt>
                <c:pt idx="2">
                  <c:v>1000000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8888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C00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C77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REST</c:v>
                  </c:pt>
                  <c:pt idx="1">
                    <c:v>Apache Kafka</c:v>
                  </c:pt>
                  <c:pt idx="2">
                    <c:v>RabbitMQ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20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Kafka</c:v>
                </c:pt>
              </c:strCache>
            </c:strRef>
          </c:tx>
          <c:spPr>
            <a:solidFill>
              <a:srgbClr val="CC0000"/>
            </a:solidFill>
            <a:ln w="31750" cap="flat">
              <a:solidFill>
                <a:srgbClr val="CC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C0000"/>
              </a:solidFill>
              <a:ln w="9525" cap="flat">
                <a:solidFill>
                  <a:srgbClr val="CC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Node</c:v>
                  </c:pt>
                  <c:pt idx="1">
                    <c:v>3 Nodes</c:v>
                  </c:pt>
                  <c:pt idx="2">
                    <c:v>5 Nodes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200000</c:v>
                </c:pt>
                <c:pt idx="1">
                  <c:v>600000</c:v>
                </c:pt>
                <c:pt idx="2">
                  <c:v>1000000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RabbitMQ</c:v>
                </c:pt>
              </c:strCache>
            </c:strRef>
          </c:tx>
          <c:spPr>
            <a:solidFill>
              <a:srgbClr val="CC7700"/>
            </a:solidFill>
            <a:ln w="31750" cap="flat">
              <a:solidFill>
                <a:srgbClr val="CC77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C7700"/>
              </a:solidFill>
              <a:ln w="9525" cap="flat">
                <a:solidFill>
                  <a:srgbClr val="CC77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Node</c:v>
                  </c:pt>
                  <c:pt idx="1">
                    <c:v>3 Nodes</c:v>
                  </c:pt>
                  <c:pt idx="2">
                    <c:v>5 Nodes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40000</c:v>
                </c:pt>
                <c:pt idx="1">
                  <c:v>90000</c:v>
                </c:pt>
                <c:pt idx="2">
                  <c:v>150000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9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of CO-OP Project at Industry (Module-2) (22CS421)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6576"/>
            <a:ext cx="1417320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640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Scalable and Reliable Backend Data Integration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Using Message-Driven Distributed Architectures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0" y="2423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 Chopra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2210990427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30175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1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Mentor / Team Lead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0" y="4160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University, Punjab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6576"/>
            <a:ext cx="1417320" cy="4206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846320"/>
            <a:ext cx="89611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685800"/>
            <a:ext cx="365760" cy="3657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85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72237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234440"/>
            <a:ext cx="365760" cy="3657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127101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 &amp; Gap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05840" y="181965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Methodology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05840" y="23682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2880360"/>
            <a:ext cx="365760" cy="3657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05840" y="291693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Throughput, Latency &amp; Scalability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3429000"/>
            <a:ext cx="365760" cy="3657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05840" y="346557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Synchronous REST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7200" y="3977640"/>
            <a:ext cx="365760" cy="3657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005840" y="401421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6576"/>
            <a:ext cx="1417320" cy="4206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846320"/>
            <a:ext cx="89611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Synchronous Architecture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65760" y="1097280"/>
            <a:ext cx="54864" cy="6400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Coupling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1371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that directly call each other become structurally coupled — a failure in one cascades to all dependents.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1984248"/>
            <a:ext cx="54864" cy="6400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984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Threads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2258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waiting for responses hold compute resources hostage. Throughput drops as more threads become blocked.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2871216"/>
            <a:ext cx="54864" cy="6400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2871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Failures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3145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 service degrades all upstream callers, turning a localized slowdown into a system-wide outage.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3758184"/>
            <a:ext cx="54864" cy="6400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758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Ceiling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40325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conventional Spring Boot REST service plateaued at just 4,500 req/sec — far below modern enterprise demands.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 &amp; Gap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6576"/>
            <a:ext cx="1417320" cy="4206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846320"/>
            <a:ext cx="89611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Evaluate publish-subscribe vs. producer-consumer models in a realistic multi-service environment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Measure throughput, latency &amp; scaling of Kafka vs. RabbitMQ under identical conditions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Quantify the improvement of async messaging over synchronous REST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Provide practical selection criteria for engineers choosing between the two systems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594360"/>
            <a:ext cx="0" cy="41148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594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46320" y="100584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Most studies benchmark only one broker — direct Kafka vs. RabbitMQ comparisons at variable cluster sizes are rare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Almost no studies include a synchronous REST baseline, making it impossible to quantify real-world improvement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Existing tests focus on raw speed, not full backend integration workflows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Cloud-managed service studies offer limited tuning depth for demanding production workloads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Methodology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6576"/>
            <a:ext cx="1417320" cy="4206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846320"/>
            <a:ext cx="89611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Message-Driven Architecture Overview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74320" y="1097280"/>
            <a:ext cx="1600200" cy="7772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74320" y="1097280"/>
            <a:ext cx="16002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(logs/events)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74520" y="1485900"/>
            <a:ext cx="4114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0" y="1097280"/>
            <a:ext cx="160020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011680" y="1097280"/>
            <a:ext cx="16002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11880" y="1485900"/>
            <a:ext cx="4114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49040" y="1097280"/>
            <a:ext cx="1600200" cy="7772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749040" y="1097280"/>
            <a:ext cx="16002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RabbitMQ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49240" y="1485900"/>
            <a:ext cx="4114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0" y="1097280"/>
            <a:ext cx="160020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86400" y="1097280"/>
            <a:ext cx="16002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086600" y="1485900"/>
            <a:ext cx="4114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23760" y="1097280"/>
            <a:ext cx="1600200" cy="7772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223760" y="1097280"/>
            <a:ext cx="16002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65760" y="2057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Flow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65760" y="2532888"/>
            <a:ext cx="320040" cy="3200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77240" y="24963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synthetic JSON event data (user activity, system events, transactions)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" y="3236976"/>
            <a:ext cx="320040" cy="3200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3236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77240" y="3200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publishes message to broker topic/queue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65760" y="3941064"/>
            <a:ext cx="320040" cy="3200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" y="39410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77240" y="3904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stores message durably (replication factor 3 for Kafka)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663440" y="2532888"/>
            <a:ext cx="320040" cy="3200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6344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074920" y="24963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retrieves and processes message asynchronously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663440" y="3236976"/>
            <a:ext cx="320040" cy="3200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63440" y="3236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074920" y="3200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failure: retry up to 3× with exponential backoff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663440" y="3941064"/>
            <a:ext cx="320040" cy="3200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63440" y="39410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074920" y="3904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data written to PostgreSQL database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6576"/>
            <a:ext cx="1417320" cy="4206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846320"/>
            <a:ext cx="89611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Configuration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" y="1005840"/>
            <a:ext cx="27432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104241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75488" y="126187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Ubuntu 22.04 VMs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18688" y="1005840"/>
            <a:ext cx="27432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28416" y="104241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328416" y="126187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vCPU · 8 GB RAM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71616" y="1005840"/>
            <a:ext cx="27432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81344" y="104241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181344" y="126187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Gbps private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1664208"/>
            <a:ext cx="27432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" y="170078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75488" y="192024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v3.5.0 + ZooKeeper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18688" y="1664208"/>
            <a:ext cx="27432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28416" y="170078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328416" y="192024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v3.12.x (AMQP)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71616" y="1664208"/>
            <a:ext cx="27432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81344" y="170078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181344" y="192024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760" y="23957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Experimental Parameters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24912"/>
          <a:ext cx="8412480" cy="196596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  <a:gridCol w="256032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KB avg (JSON)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Configs Tested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3, 5 nodes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Producers / Consumers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producers · 3 consumers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Partitions (5-node)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per 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Replication Factor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(survives 2 node failures)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RabbitMQ Prefetch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Acknowledgment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ACK (at-least-once)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Duration per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Throughput Comparison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6576"/>
            <a:ext cx="1417320" cy="4206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846320"/>
            <a:ext cx="89611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Throughput — Kafka vs RabbitMQ vs REST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00584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035040" y="1051560"/>
            <a:ext cx="27432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035040" y="1051560"/>
            <a:ext cx="64008" cy="914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63640" y="11247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263640" y="13258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263640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msg/sec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2194560"/>
            <a:ext cx="27432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35040" y="2194560"/>
            <a:ext cx="64008" cy="914400"/>
          </a:xfrm>
          <a:prstGeom prst="rect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63640" y="22677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263640" y="24688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263640" y="2852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msg/sec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35040" y="3337560"/>
            <a:ext cx="27432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35040" y="3337560"/>
            <a:ext cx="64008" cy="9144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63640" y="34107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Baseline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263640" y="36118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4,500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6263640" y="3995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req/sec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65760" y="454456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processes 222× more messages/sec than REST on identical hardware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Latency Comparison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6576"/>
            <a:ext cx="1417320" cy="4206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846320"/>
            <a:ext cx="89611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Delivery Latency (Producer → Consumer ACK)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760720" y="1005840"/>
            <a:ext cx="301752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760720" y="1005840"/>
            <a:ext cx="64008" cy="914400"/>
          </a:xfrm>
          <a:prstGeom prst="rect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43600" y="10607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— 3 ms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943600" y="13075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each message individually through memory. Best for fraud detection, live auctions, real-time monitoring.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760720" y="2084832"/>
            <a:ext cx="301752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60720" y="2084832"/>
            <a:ext cx="64008" cy="914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943600" y="21396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— 20 ms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943600" y="238658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messages before writing to achieve high throughput. Best for log collection, clickstream analytics, ETL pipelines.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760720" y="3163824"/>
            <a:ext cx="301752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760720" y="3163824"/>
            <a:ext cx="64008" cy="9144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0" y="3218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— 50 ms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943600" y="346557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blocking under load causes compounding delays. Not suitable for high-volume inter-service communication.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Scalability Analysis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6576"/>
            <a:ext cx="1417320" cy="4206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846320"/>
            <a:ext cx="89611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vs. Number of Nodes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00584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005840"/>
          <a:ext cx="3063240" cy="1737360"/>
        </p:xfrm>
        <a:graphic>
          <a:graphicData uri="http://schemas.openxmlformats.org/drawingml/2006/table">
            <a:tbl>
              <a:tblPr/>
              <a:tblGrid>
                <a:gridCol w="765810"/>
                <a:gridCol w="765810"/>
                <a:gridCol w="765810"/>
                <a:gridCol w="76581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(msg/s)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RabbitMQ (msg/s)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S(n)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(ideal linear)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5760720" y="28803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760720" y="31546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achieved a perfect scaling factor of 5.0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nodes — each node takes on more partitions independently, with zero cross-node synchronization cost.
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scaling factor of 3.75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diminishing returns past 3 nodes due to exchange/queue binding overhead.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Synchronous REST Baseline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6576"/>
            <a:ext cx="1417320" cy="4206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846320"/>
            <a:ext cx="89611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Messaging vs. Synchronous REST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182880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1371600"/>
                <a:gridCol w="24688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Throughput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REST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(Synchronous Baseline)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 msg/sec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(reference)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RabbitMQ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 msg/sec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11× throughput · 17× lower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Kafka (5 nodes)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1,000,000 msg/sec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222× throughput · 2.5× lower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2971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65760" y="3337560"/>
            <a:ext cx="54864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222× throughput gap cannot be bridged by hardware tuning — it reflects two fundamentally different communication models.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65760" y="3794760"/>
            <a:ext cx="54864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for &gt;50,000 events/sec workloads (log pipelines, clickstream, ETL). RabbitMQ when latency must be under 5 ms (fraud alerts, auctions).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4251960"/>
            <a:ext cx="54864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still using synchronous REST for high-volume inter-service communication, the performance ceiling is simply too low for modern workloads.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6576"/>
            <a:ext cx="1417320" cy="4206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846320"/>
            <a:ext cx="89611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" y="1024128"/>
            <a:ext cx="256032" cy="25603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9875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message brokers dramatically outperform synchronous REST — Kafka at 222× and RabbitMQ at 11× throughput improvement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1709928"/>
            <a:ext cx="256032" cy="25603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16733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achieved a near-perfect linear scaling factor of 5.0 across 5 nodes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2395728"/>
            <a:ext cx="256032" cy="25603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3591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delivers 3 ms latency, 6.7× better than Kafka, ideal for time-critical workloads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3081528"/>
            <a:ext cx="256032" cy="25603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30449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count directly controls Kafka parallelism — plan partitions relative to cluster size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3767328"/>
            <a:ext cx="256032" cy="25603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37307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between Kafka and RabbitMQ depends entirely on workload characteristics, not one-size-fits-all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63440" y="594360"/>
            <a:ext cx="0" cy="41148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594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846320" y="1005840"/>
            <a:ext cx="393192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46320" y="1005840"/>
            <a:ext cx="64008" cy="10058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0" y="1078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Message Routing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029200" y="13533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reinforcement learning model at the broker layer, watching queue depths and consumer speeds in real-time to route smarter than static partitioning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846320" y="2212848"/>
            <a:ext cx="393192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46320" y="2212848"/>
            <a:ext cx="64008" cy="10058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0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Sync-Async Systems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029200" y="25603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API surface for users, async messaging between internal services — measure the cost and break-even point of the translation layer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846320" y="3419856"/>
            <a:ext cx="393192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846320" y="3419856"/>
            <a:ext cx="64008" cy="10058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0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Traffic Validation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029200" y="37673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findings with production traffic patterns including unpredictable spikes, mixed hardware, and network congestion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6576"/>
            <a:ext cx="1417320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914400" y="28346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 Chopra  |  Roll No. 2210990427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University, Punjab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jai427.be22@chitkara.edu.in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846320"/>
            <a:ext cx="89611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Scalable and Reliable Backend Data Integration</dc:title>
  <dc:subject>PptxGenJS Presentation</dc:subject>
  <dc:creator>PptxGenJS</dc:creator>
  <cp:lastModifiedBy>PptxGenJS</cp:lastModifiedBy>
  <cp:revision>1</cp:revision>
  <dcterms:created xsi:type="dcterms:W3CDTF">2026-04-28T17:24:14Z</dcterms:created>
  <dcterms:modified xsi:type="dcterms:W3CDTF">2026-04-28T17:24:14Z</dcterms:modified>
</cp:coreProperties>
</file>